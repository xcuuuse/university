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32" r:id="rId3"/>
  </p:sldMasterIdLst>
  <p:notesMasterIdLst>
    <p:notesMasterId r:id="rId23"/>
  </p:notesMasterIdLst>
  <p:handoutMasterIdLst>
    <p:handoutMasterId r:id="rId24"/>
  </p:handoutMasterIdLst>
  <p:sldIdLst>
    <p:sldId id="330" r:id="rId4"/>
    <p:sldId id="391" r:id="rId5"/>
    <p:sldId id="446" r:id="rId6"/>
    <p:sldId id="417" r:id="rId7"/>
    <p:sldId id="264" r:id="rId8"/>
    <p:sldId id="308" r:id="rId9"/>
    <p:sldId id="262" r:id="rId10"/>
    <p:sldId id="307" r:id="rId11"/>
    <p:sldId id="392" r:id="rId12"/>
    <p:sldId id="443" r:id="rId13"/>
    <p:sldId id="366" r:id="rId14"/>
    <p:sldId id="367" r:id="rId15"/>
    <p:sldId id="368" r:id="rId16"/>
    <p:sldId id="369" r:id="rId17"/>
    <p:sldId id="370" r:id="rId18"/>
    <p:sldId id="371" r:id="rId19"/>
    <p:sldId id="444" r:id="rId20"/>
    <p:sldId id="445" r:id="rId21"/>
    <p:sldId id="373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41" autoAdjust="0"/>
    <p:restoredTop sz="86306" autoAdjust="0"/>
  </p:normalViewPr>
  <p:slideViewPr>
    <p:cSldViewPr>
      <p:cViewPr varScale="1">
        <p:scale>
          <a:sx n="85" d="100"/>
          <a:sy n="85" d="100"/>
        </p:scale>
        <p:origin x="878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6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25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A039CD-95F8-47C0-BFD5-DB950D204BFB}" type="doc">
      <dgm:prSet loTypeId="urn:microsoft.com/office/officeart/2005/8/layout/chevron2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ru-RU"/>
        </a:p>
      </dgm:t>
    </dgm:pt>
    <dgm:pt modelId="{C1DF5734-E244-494D-9BCE-27BE9987A102}">
      <dgm:prSet phldrT="[Текст]" custT="1"/>
      <dgm:spPr>
        <a:xfrm rot="5400000">
          <a:off x="-88574" y="89746"/>
          <a:ext cx="590497" cy="413348"/>
        </a:xfrm>
        <a:solidFill>
          <a:srgbClr val="FF000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ru-RU" sz="20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1</a:t>
          </a:r>
        </a:p>
      </dgm:t>
    </dgm:pt>
    <dgm:pt modelId="{E0A2945D-F2D2-4A50-93E2-D01DD7473D81}" type="parTrans" cxnId="{AF45BDDC-7104-4284-9C77-A2890855741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73EB556-E220-41E0-A3C5-B20A79A93C0F}" type="sibTrans" cxnId="{AF45BDDC-7104-4284-9C77-A28908557419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D29250F-173D-4049-85CD-EE763F5FDA0B}">
      <dgm:prSet custT="1"/>
      <dgm:spPr>
        <a:xfrm rot="5400000">
          <a:off x="-88574" y="556240"/>
          <a:ext cx="590497" cy="413348"/>
        </a:xfrm>
        <a:solidFill>
          <a:srgbClr val="92D05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ru-RU" sz="20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2</a:t>
          </a:r>
        </a:p>
      </dgm:t>
    </dgm:pt>
    <dgm:pt modelId="{800A5E13-45CF-4BDF-98D5-F058D07A4E76}" type="parTrans" cxnId="{553AD066-38E5-491E-985F-A3B1AF94E2C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A35CFE3-7A23-4100-A03A-26875FE38723}" type="sibTrans" cxnId="{553AD066-38E5-491E-985F-A3B1AF94E2C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F7C8147-AD2B-4685-8B0C-2D6A4E6ECBBD}">
      <dgm:prSet custT="1"/>
      <dgm:spPr>
        <a:xfrm rot="5400000">
          <a:off x="-88574" y="1022733"/>
          <a:ext cx="590497" cy="413348"/>
        </a:xfrm>
        <a:solidFill>
          <a:srgbClr val="7030A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ru-RU" sz="20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3</a:t>
          </a:r>
        </a:p>
      </dgm:t>
    </dgm:pt>
    <dgm:pt modelId="{0DE60A5F-6339-4D30-8A5F-3D107955153F}" type="parTrans" cxnId="{00EBA291-BCBD-4FF9-BB9A-936F1B8A803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2DC964B-733C-44CB-BECA-5E0FCDEC18A9}" type="sibTrans" cxnId="{00EBA291-BCBD-4FF9-BB9A-936F1B8A8033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F4B43C0-DDCC-4E80-A6D3-E563ACE20BD3}">
      <dgm:prSet custT="1"/>
      <dgm:spPr>
        <a:xfrm rot="5400000">
          <a:off x="-88574" y="1489226"/>
          <a:ext cx="590497" cy="413348"/>
        </a:xfrm>
        <a:solidFill>
          <a:srgbClr val="00B0F0">
            <a:lumMod val="60000"/>
            <a:lumOff val="4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ru-RU" sz="20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4</a:t>
          </a:r>
        </a:p>
      </dgm:t>
    </dgm:pt>
    <dgm:pt modelId="{ED692837-5A0F-4658-AFC0-B85A4EACF4AD}" type="parTrans" cxnId="{72D3047B-DC18-4E0A-AD50-5398B387AC1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7A336BB-7875-4697-B3DD-6527AA369312}" type="sibTrans" cxnId="{72D3047B-DC18-4E0A-AD50-5398B387AC1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EC9BCB8-3546-4DF0-82A8-DAD31EB87752}">
      <dgm:prSet phldrT="[Текст]" custT="1"/>
      <dgm:spPr>
        <a:xfrm rot="5400000">
          <a:off x="2657968" y="-2243447"/>
          <a:ext cx="383823" cy="4873063"/>
        </a:xfr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r>
            <a:rPr lang="ru-RU" sz="3200" b="0" i="0" u="none" dirty="0">
              <a:latin typeface="Arial" panose="020B0604020202020204" pitchFamily="34" charset="0"/>
              <a:cs typeface="Arial" panose="020B0604020202020204" pitchFamily="34" charset="0"/>
            </a:rPr>
            <a:t>Оптимальные (1 класс) </a:t>
          </a:r>
          <a:endParaRPr lang="ru-RU" sz="3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DF9CBE2-5F55-47BE-A26F-2A481822CFDE}" type="parTrans" cxnId="{993E5B89-1845-4DCA-B017-7496DB65BEA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C92C8DA-4C96-4446-9FA4-AD97B58278BF}" type="sibTrans" cxnId="{993E5B89-1845-4DCA-B017-7496DB65BEA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9643405-C95F-495F-B777-9CBA562BE615}">
      <dgm:prSet custT="1"/>
      <dgm:spPr>
        <a:xfrm rot="5400000">
          <a:off x="2657968" y="-1776954"/>
          <a:ext cx="383823" cy="4873063"/>
        </a:xfr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r>
            <a:rPr lang="ru-RU" sz="3200" b="0" i="0" u="none" dirty="0">
              <a:latin typeface="Arial" panose="020B0604020202020204" pitchFamily="34" charset="0"/>
              <a:cs typeface="Arial" panose="020B0604020202020204" pitchFamily="34" charset="0"/>
            </a:rPr>
            <a:t>Допустимые (2 класс)</a:t>
          </a:r>
          <a:endParaRPr lang="ru-RU" sz="3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BF6D301-45D3-490C-8F38-62A2FE5CB2A9}" type="parTrans" cxnId="{0051527C-4E1D-477A-92D7-33F48D60152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BF62CDF-7D8F-43BE-8437-5733F11C7561}" type="sibTrans" cxnId="{0051527C-4E1D-477A-92D7-33F48D60152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E4DC537-2C88-4F28-92C7-9FEC9934F025}">
      <dgm:prSet custT="1"/>
      <dgm:spPr>
        <a:xfrm rot="5400000">
          <a:off x="2657968" y="-1310461"/>
          <a:ext cx="383823" cy="4873063"/>
        </a:xfr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r>
            <a:rPr lang="ru-RU" sz="3200" b="0" i="0" u="none" dirty="0">
              <a:latin typeface="Arial" panose="020B0604020202020204" pitchFamily="34" charset="0"/>
              <a:cs typeface="Arial" panose="020B0604020202020204" pitchFamily="34" charset="0"/>
            </a:rPr>
            <a:t>Вредные (3 класс)</a:t>
          </a:r>
          <a:endParaRPr lang="ru-RU" sz="3200" b="0" i="1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AB24460-3903-40C8-BD66-D7BE4DDBFD8D}" type="parTrans" cxnId="{00D89703-4E41-4921-85BD-65DD0661508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93EBFF6-3D6A-4E36-9DEC-0BC4BC21BD94}" type="sibTrans" cxnId="{00D89703-4E41-4921-85BD-65DD0661508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B34A729-8049-4138-83BE-0190171F156F}">
      <dgm:prSet custT="1"/>
      <dgm:spPr>
        <a:xfrm rot="5400000">
          <a:off x="2657968" y="-843968"/>
          <a:ext cx="383823" cy="4873063"/>
        </a:xfr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ctr"/>
          <a:r>
            <a:rPr lang="ru-RU" sz="3200" b="0" i="0" u="none" dirty="0">
              <a:latin typeface="Arial" panose="020B0604020202020204" pitchFamily="34" charset="0"/>
              <a:cs typeface="Arial" panose="020B0604020202020204" pitchFamily="34" charset="0"/>
            </a:rPr>
            <a:t>Опасные (4 класс)</a:t>
          </a:r>
          <a:endParaRPr lang="ru-RU" sz="3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B6976FE-0C31-497A-88FD-AD59E05A7AEB}" type="parTrans" cxnId="{E83E53A8-0541-4003-8D90-D9AA69396FC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6D2D744-21CF-4CFC-B510-5CC37FF83B06}" type="sibTrans" cxnId="{E83E53A8-0541-4003-8D90-D9AA69396FC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FC0FD8B-7CEB-4DB6-A59E-5A0C1E25622A}" type="pres">
      <dgm:prSet presAssocID="{D4A039CD-95F8-47C0-BFD5-DB950D204BF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4AD434-E036-4FCE-8D9C-90199831111B}" type="pres">
      <dgm:prSet presAssocID="{C1DF5734-E244-494D-9BCE-27BE9987A102}" presName="composite" presStyleCnt="0"/>
      <dgm:spPr/>
    </dgm:pt>
    <dgm:pt modelId="{5AB07F8B-B404-4D17-BC15-1D6E114A113E}" type="pres">
      <dgm:prSet presAssocID="{C1DF5734-E244-494D-9BCE-27BE9987A102}" presName="parentText" presStyleLbl="alignNode1" presStyleIdx="0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716A4771-61E6-4DDF-A1C4-27806B8F623A}" type="pres">
      <dgm:prSet presAssocID="{C1DF5734-E244-494D-9BCE-27BE9987A102}" presName="descendantText" presStyleLbl="alignAcc1" presStyleIdx="0" presStyleCnt="4" custScaleY="90744" custLinFactNeighborX="0" custLinFactNeighborY="-748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FAD918B7-3DFC-4B99-9A18-518D5BEB6FAB}" type="pres">
      <dgm:prSet presAssocID="{473EB556-E220-41E0-A3C5-B20A79A93C0F}" presName="sp" presStyleCnt="0"/>
      <dgm:spPr/>
    </dgm:pt>
    <dgm:pt modelId="{F993BADE-EF54-4C8F-A8DD-D88244286B79}" type="pres">
      <dgm:prSet presAssocID="{5D29250F-173D-4049-85CD-EE763F5FDA0B}" presName="composite" presStyleCnt="0"/>
      <dgm:spPr/>
    </dgm:pt>
    <dgm:pt modelId="{46FD8ED9-C81E-4889-8646-B96C707D4FA9}" type="pres">
      <dgm:prSet presAssocID="{5D29250F-173D-4049-85CD-EE763F5FDA0B}" presName="parentText" presStyleLbl="alignNode1" presStyleIdx="1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97664370-10B4-4A50-92F6-1793C630566D}" type="pres">
      <dgm:prSet presAssocID="{5D29250F-173D-4049-85CD-EE763F5FDA0B}" presName="descendantText" presStyleLbl="alignAcc1" presStyleIdx="1" presStyleCnt="4" custScaleY="96549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9D95D4B8-F5E9-4B52-AB85-A24469B9D9A8}" type="pres">
      <dgm:prSet presAssocID="{BA35CFE3-7A23-4100-A03A-26875FE38723}" presName="sp" presStyleCnt="0"/>
      <dgm:spPr/>
    </dgm:pt>
    <dgm:pt modelId="{E9D1A6F5-125C-4262-9798-0B4BCCE4837A}" type="pres">
      <dgm:prSet presAssocID="{2F7C8147-AD2B-4685-8B0C-2D6A4E6ECBBD}" presName="composite" presStyleCnt="0"/>
      <dgm:spPr/>
    </dgm:pt>
    <dgm:pt modelId="{8BC97808-7683-4624-A8C9-7C726628A753}" type="pres">
      <dgm:prSet presAssocID="{2F7C8147-AD2B-4685-8B0C-2D6A4E6ECBBD}" presName="parentText" presStyleLbl="alignNode1" presStyleIdx="2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6499D058-424F-41AE-BA91-DD69763CD284}" type="pres">
      <dgm:prSet presAssocID="{2F7C8147-AD2B-4685-8B0C-2D6A4E6ECBBD}" presName="descendantText" presStyleLbl="alignAcc1" presStyleIdx="2" presStyleCnt="4" custScaleY="111284" custLinFactNeighborX="0" custLinFactNeighborY="11247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9E0BFEE1-612D-49CD-B426-A27995F9B045}" type="pres">
      <dgm:prSet presAssocID="{82DC964B-733C-44CB-BECA-5E0FCDEC18A9}" presName="sp" presStyleCnt="0"/>
      <dgm:spPr/>
    </dgm:pt>
    <dgm:pt modelId="{CC03A19C-E726-49D8-AE89-0EA0DD2ED99D}" type="pres">
      <dgm:prSet presAssocID="{0F4B43C0-DDCC-4E80-A6D3-E563ACE20BD3}" presName="composite" presStyleCnt="0"/>
      <dgm:spPr/>
    </dgm:pt>
    <dgm:pt modelId="{B628FEAA-9082-4CEB-BD41-80914BD0A837}" type="pres">
      <dgm:prSet presAssocID="{0F4B43C0-DDCC-4E80-A6D3-E563ACE20BD3}" presName="parentText" presStyleLbl="alignNode1" presStyleIdx="3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AA868E1F-013C-410B-89CE-7031C3D2FFDA}" type="pres">
      <dgm:prSet presAssocID="{0F4B43C0-DDCC-4E80-A6D3-E563ACE20BD3}" presName="descendantText" presStyleLbl="alignAcc1" presStyleIdx="3" presStyleCnt="4" custScaleY="96301" custLinFactNeighborY="22054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</dgm:ptLst>
  <dgm:cxnLst>
    <dgm:cxn modelId="{72D3047B-DC18-4E0A-AD50-5398B387AC12}" srcId="{D4A039CD-95F8-47C0-BFD5-DB950D204BFB}" destId="{0F4B43C0-DDCC-4E80-A6D3-E563ACE20BD3}" srcOrd="3" destOrd="0" parTransId="{ED692837-5A0F-4658-AFC0-B85A4EACF4AD}" sibTransId="{F7A336BB-7875-4697-B3DD-6527AA369312}"/>
    <dgm:cxn modelId="{00D89703-4E41-4921-85BD-65DD0661508C}" srcId="{2F7C8147-AD2B-4685-8B0C-2D6A4E6ECBBD}" destId="{3E4DC537-2C88-4F28-92C7-9FEC9934F025}" srcOrd="0" destOrd="0" parTransId="{CAB24460-3903-40C8-BD66-D7BE4DDBFD8D}" sibTransId="{C93EBFF6-3D6A-4E36-9DEC-0BC4BC21BD94}"/>
    <dgm:cxn modelId="{AF45BDDC-7104-4284-9C77-A28908557419}" srcId="{D4A039CD-95F8-47C0-BFD5-DB950D204BFB}" destId="{C1DF5734-E244-494D-9BCE-27BE9987A102}" srcOrd="0" destOrd="0" parTransId="{E0A2945D-F2D2-4A50-93E2-D01DD7473D81}" sibTransId="{473EB556-E220-41E0-A3C5-B20A79A93C0F}"/>
    <dgm:cxn modelId="{96104FE3-98A7-4010-B20C-807C74A507FD}" type="presOf" srcId="{1B34A729-8049-4138-83BE-0190171F156F}" destId="{AA868E1F-013C-410B-89CE-7031C3D2FFDA}" srcOrd="0" destOrd="0" presId="urn:microsoft.com/office/officeart/2005/8/layout/chevron2"/>
    <dgm:cxn modelId="{993E5B89-1845-4DCA-B017-7496DB65BEAC}" srcId="{C1DF5734-E244-494D-9BCE-27BE9987A102}" destId="{0EC9BCB8-3546-4DF0-82A8-DAD31EB87752}" srcOrd="0" destOrd="0" parTransId="{ADF9CBE2-5F55-47BE-A26F-2A481822CFDE}" sibTransId="{8C92C8DA-4C96-4446-9FA4-AD97B58278BF}"/>
    <dgm:cxn modelId="{553AD066-38E5-491E-985F-A3B1AF94E2CE}" srcId="{D4A039CD-95F8-47C0-BFD5-DB950D204BFB}" destId="{5D29250F-173D-4049-85CD-EE763F5FDA0B}" srcOrd="1" destOrd="0" parTransId="{800A5E13-45CF-4BDF-98D5-F058D07A4E76}" sibTransId="{BA35CFE3-7A23-4100-A03A-26875FE38723}"/>
    <dgm:cxn modelId="{640B10FD-D522-49E7-8724-532F6282B89A}" type="presOf" srcId="{D4A039CD-95F8-47C0-BFD5-DB950D204BFB}" destId="{7FC0FD8B-7CEB-4DB6-A59E-5A0C1E25622A}" srcOrd="0" destOrd="0" presId="urn:microsoft.com/office/officeart/2005/8/layout/chevron2"/>
    <dgm:cxn modelId="{404D4C24-65B7-4511-8494-D09D581D666A}" type="presOf" srcId="{2F7C8147-AD2B-4685-8B0C-2D6A4E6ECBBD}" destId="{8BC97808-7683-4624-A8C9-7C726628A753}" srcOrd="0" destOrd="0" presId="urn:microsoft.com/office/officeart/2005/8/layout/chevron2"/>
    <dgm:cxn modelId="{0051527C-4E1D-477A-92D7-33F48D60152A}" srcId="{5D29250F-173D-4049-85CD-EE763F5FDA0B}" destId="{59643405-C95F-495F-B777-9CBA562BE615}" srcOrd="0" destOrd="0" parTransId="{CBF6D301-45D3-490C-8F38-62A2FE5CB2A9}" sibTransId="{5BF62CDF-7D8F-43BE-8437-5733F11C7561}"/>
    <dgm:cxn modelId="{FD02DC76-4694-400B-9B06-DD1E36BB9AC0}" type="presOf" srcId="{59643405-C95F-495F-B777-9CBA562BE615}" destId="{97664370-10B4-4A50-92F6-1793C630566D}" srcOrd="0" destOrd="0" presId="urn:microsoft.com/office/officeart/2005/8/layout/chevron2"/>
    <dgm:cxn modelId="{E83E53A8-0541-4003-8D90-D9AA69396FC1}" srcId="{0F4B43C0-DDCC-4E80-A6D3-E563ACE20BD3}" destId="{1B34A729-8049-4138-83BE-0190171F156F}" srcOrd="0" destOrd="0" parTransId="{CB6976FE-0C31-497A-88FD-AD59E05A7AEB}" sibTransId="{86D2D744-21CF-4CFC-B510-5CC37FF83B06}"/>
    <dgm:cxn modelId="{00EBA291-BCBD-4FF9-BB9A-936F1B8A8033}" srcId="{D4A039CD-95F8-47C0-BFD5-DB950D204BFB}" destId="{2F7C8147-AD2B-4685-8B0C-2D6A4E6ECBBD}" srcOrd="2" destOrd="0" parTransId="{0DE60A5F-6339-4D30-8A5F-3D107955153F}" sibTransId="{82DC964B-733C-44CB-BECA-5E0FCDEC18A9}"/>
    <dgm:cxn modelId="{91F3E39D-BD15-4115-8A2A-4872B3390DC5}" type="presOf" srcId="{C1DF5734-E244-494D-9BCE-27BE9987A102}" destId="{5AB07F8B-B404-4D17-BC15-1D6E114A113E}" srcOrd="0" destOrd="0" presId="urn:microsoft.com/office/officeart/2005/8/layout/chevron2"/>
    <dgm:cxn modelId="{C3D185A9-2AEF-4439-A467-52B5EB4A7CA8}" type="presOf" srcId="{0EC9BCB8-3546-4DF0-82A8-DAD31EB87752}" destId="{716A4771-61E6-4DDF-A1C4-27806B8F623A}" srcOrd="0" destOrd="0" presId="urn:microsoft.com/office/officeart/2005/8/layout/chevron2"/>
    <dgm:cxn modelId="{6279BC46-4ACC-494A-86DC-4F7C3D57547B}" type="presOf" srcId="{5D29250F-173D-4049-85CD-EE763F5FDA0B}" destId="{46FD8ED9-C81E-4889-8646-B96C707D4FA9}" srcOrd="0" destOrd="0" presId="urn:microsoft.com/office/officeart/2005/8/layout/chevron2"/>
    <dgm:cxn modelId="{FA4D8744-D89F-4FAD-B57D-58B6ADEE9049}" type="presOf" srcId="{3E4DC537-2C88-4F28-92C7-9FEC9934F025}" destId="{6499D058-424F-41AE-BA91-DD69763CD284}" srcOrd="0" destOrd="0" presId="urn:microsoft.com/office/officeart/2005/8/layout/chevron2"/>
    <dgm:cxn modelId="{2F3703CC-90D7-4997-BBB5-35FF30A99CAB}" type="presOf" srcId="{0F4B43C0-DDCC-4E80-A6D3-E563ACE20BD3}" destId="{B628FEAA-9082-4CEB-BD41-80914BD0A837}" srcOrd="0" destOrd="0" presId="urn:microsoft.com/office/officeart/2005/8/layout/chevron2"/>
    <dgm:cxn modelId="{10E48022-A500-4802-B56C-D7E3D9CD1E60}" type="presParOf" srcId="{7FC0FD8B-7CEB-4DB6-A59E-5A0C1E25622A}" destId="{694AD434-E036-4FCE-8D9C-90199831111B}" srcOrd="0" destOrd="0" presId="urn:microsoft.com/office/officeart/2005/8/layout/chevron2"/>
    <dgm:cxn modelId="{395BFB28-B823-4A35-8188-6AF5CE60B02E}" type="presParOf" srcId="{694AD434-E036-4FCE-8D9C-90199831111B}" destId="{5AB07F8B-B404-4D17-BC15-1D6E114A113E}" srcOrd="0" destOrd="0" presId="urn:microsoft.com/office/officeart/2005/8/layout/chevron2"/>
    <dgm:cxn modelId="{B183F531-65AF-4A1F-B7E5-1F53A8161FE3}" type="presParOf" srcId="{694AD434-E036-4FCE-8D9C-90199831111B}" destId="{716A4771-61E6-4DDF-A1C4-27806B8F623A}" srcOrd="1" destOrd="0" presId="urn:microsoft.com/office/officeart/2005/8/layout/chevron2"/>
    <dgm:cxn modelId="{358C156D-280D-476C-88BA-6C587A096899}" type="presParOf" srcId="{7FC0FD8B-7CEB-4DB6-A59E-5A0C1E25622A}" destId="{FAD918B7-3DFC-4B99-9A18-518D5BEB6FAB}" srcOrd="1" destOrd="0" presId="urn:microsoft.com/office/officeart/2005/8/layout/chevron2"/>
    <dgm:cxn modelId="{C5310DDB-A936-43B5-A211-3754682A198A}" type="presParOf" srcId="{7FC0FD8B-7CEB-4DB6-A59E-5A0C1E25622A}" destId="{F993BADE-EF54-4C8F-A8DD-D88244286B79}" srcOrd="2" destOrd="0" presId="urn:microsoft.com/office/officeart/2005/8/layout/chevron2"/>
    <dgm:cxn modelId="{32231E88-D0F5-45B6-8766-1DC1040CD711}" type="presParOf" srcId="{F993BADE-EF54-4C8F-A8DD-D88244286B79}" destId="{46FD8ED9-C81E-4889-8646-B96C707D4FA9}" srcOrd="0" destOrd="0" presId="urn:microsoft.com/office/officeart/2005/8/layout/chevron2"/>
    <dgm:cxn modelId="{54F496D9-C18A-4E28-B63B-BFD3B84C83CD}" type="presParOf" srcId="{F993BADE-EF54-4C8F-A8DD-D88244286B79}" destId="{97664370-10B4-4A50-92F6-1793C630566D}" srcOrd="1" destOrd="0" presId="urn:microsoft.com/office/officeart/2005/8/layout/chevron2"/>
    <dgm:cxn modelId="{5BDEC42E-F36E-403A-8A17-710FD09F16F0}" type="presParOf" srcId="{7FC0FD8B-7CEB-4DB6-A59E-5A0C1E25622A}" destId="{9D95D4B8-F5E9-4B52-AB85-A24469B9D9A8}" srcOrd="3" destOrd="0" presId="urn:microsoft.com/office/officeart/2005/8/layout/chevron2"/>
    <dgm:cxn modelId="{54BA0F9B-0C0F-4335-A0EE-BCCF751D5746}" type="presParOf" srcId="{7FC0FD8B-7CEB-4DB6-A59E-5A0C1E25622A}" destId="{E9D1A6F5-125C-4262-9798-0B4BCCE4837A}" srcOrd="4" destOrd="0" presId="urn:microsoft.com/office/officeart/2005/8/layout/chevron2"/>
    <dgm:cxn modelId="{7CD10D07-1786-4B73-96F3-7B62CE631032}" type="presParOf" srcId="{E9D1A6F5-125C-4262-9798-0B4BCCE4837A}" destId="{8BC97808-7683-4624-A8C9-7C726628A753}" srcOrd="0" destOrd="0" presId="urn:microsoft.com/office/officeart/2005/8/layout/chevron2"/>
    <dgm:cxn modelId="{3921BBA6-0609-4803-98A9-1C7CCEEAAE09}" type="presParOf" srcId="{E9D1A6F5-125C-4262-9798-0B4BCCE4837A}" destId="{6499D058-424F-41AE-BA91-DD69763CD284}" srcOrd="1" destOrd="0" presId="urn:microsoft.com/office/officeart/2005/8/layout/chevron2"/>
    <dgm:cxn modelId="{BC20B24E-B90C-4194-8D74-DB69641C8F6D}" type="presParOf" srcId="{7FC0FD8B-7CEB-4DB6-A59E-5A0C1E25622A}" destId="{9E0BFEE1-612D-49CD-B426-A27995F9B045}" srcOrd="5" destOrd="0" presId="urn:microsoft.com/office/officeart/2005/8/layout/chevron2"/>
    <dgm:cxn modelId="{6B89053C-1C7F-4AC4-A392-32C18391EDC6}" type="presParOf" srcId="{7FC0FD8B-7CEB-4DB6-A59E-5A0C1E25622A}" destId="{CC03A19C-E726-49D8-AE89-0EA0DD2ED99D}" srcOrd="6" destOrd="0" presId="urn:microsoft.com/office/officeart/2005/8/layout/chevron2"/>
    <dgm:cxn modelId="{0B3A102D-5155-4E2D-AF4E-D08F2433FD7E}" type="presParOf" srcId="{CC03A19C-E726-49D8-AE89-0EA0DD2ED99D}" destId="{B628FEAA-9082-4CEB-BD41-80914BD0A837}" srcOrd="0" destOrd="0" presId="urn:microsoft.com/office/officeart/2005/8/layout/chevron2"/>
    <dgm:cxn modelId="{05E27FC4-1094-4DE8-B535-146042849557}" type="presParOf" srcId="{CC03A19C-E726-49D8-AE89-0EA0DD2ED99D}" destId="{AA868E1F-013C-410B-89CE-7031C3D2FFD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07F8B-B404-4D17-BC15-1D6E114A113E}">
      <dsp:nvSpPr>
        <dsp:cNvPr id="0" name=""/>
        <dsp:cNvSpPr/>
      </dsp:nvSpPr>
      <dsp:spPr>
        <a:xfrm rot="5400000">
          <a:off x="-220635" y="224694"/>
          <a:ext cx="1470902" cy="1029631"/>
        </a:xfrm>
        <a:prstGeom prst="chevron">
          <a:avLst/>
        </a:prstGeom>
        <a:solidFill>
          <a:srgbClr val="FF000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1</a:t>
          </a:r>
        </a:p>
      </dsp:txBody>
      <dsp:txXfrm rot="-5400000">
        <a:off x="1" y="518875"/>
        <a:ext cx="1029631" cy="441271"/>
      </dsp:txXfrm>
    </dsp:sp>
    <dsp:sp modelId="{716A4771-61E6-4DDF-A1C4-27806B8F623A}">
      <dsp:nvSpPr>
        <dsp:cNvPr id="0" name=""/>
        <dsp:cNvSpPr/>
      </dsp:nvSpPr>
      <dsp:spPr>
        <a:xfrm rot="5400000">
          <a:off x="4653020" y="-3582233"/>
          <a:ext cx="867591" cy="8114368"/>
        </a:xfrm>
        <a:prstGeom prst="round2SameRect">
          <a:avLst/>
        </a:prstGeo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Оптимальные (1 класс) </a:t>
          </a:r>
          <a:endParaRPr lang="ru-RU" sz="32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-5400000">
        <a:off x="1029632" y="83507"/>
        <a:ext cx="8072016" cy="782887"/>
      </dsp:txXfrm>
    </dsp:sp>
    <dsp:sp modelId="{46FD8ED9-C81E-4889-8646-B96C707D4FA9}">
      <dsp:nvSpPr>
        <dsp:cNvPr id="0" name=""/>
        <dsp:cNvSpPr/>
      </dsp:nvSpPr>
      <dsp:spPr>
        <a:xfrm rot="5400000">
          <a:off x="-220635" y="1552784"/>
          <a:ext cx="1470902" cy="1029631"/>
        </a:xfrm>
        <a:prstGeom prst="chevron">
          <a:avLst/>
        </a:prstGeom>
        <a:solidFill>
          <a:srgbClr val="92D05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2</a:t>
          </a:r>
        </a:p>
      </dsp:txBody>
      <dsp:txXfrm rot="-5400000">
        <a:off x="1" y="1846965"/>
        <a:ext cx="1029631" cy="441271"/>
      </dsp:txXfrm>
    </dsp:sp>
    <dsp:sp modelId="{97664370-10B4-4A50-92F6-1793C630566D}">
      <dsp:nvSpPr>
        <dsp:cNvPr id="0" name=""/>
        <dsp:cNvSpPr/>
      </dsp:nvSpPr>
      <dsp:spPr>
        <a:xfrm rot="5400000">
          <a:off x="4625269" y="-2246992"/>
          <a:ext cx="923092" cy="8114368"/>
        </a:xfrm>
        <a:prstGeom prst="round2SameRect">
          <a:avLst/>
        </a:prstGeo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Допустимые (2 класс)</a:t>
          </a:r>
          <a:endParaRPr lang="ru-RU" sz="32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-5400000">
        <a:off x="1029631" y="1393708"/>
        <a:ext cx="8069306" cy="832968"/>
      </dsp:txXfrm>
    </dsp:sp>
    <dsp:sp modelId="{8BC97808-7683-4624-A8C9-7C726628A753}">
      <dsp:nvSpPr>
        <dsp:cNvPr id="0" name=""/>
        <dsp:cNvSpPr/>
      </dsp:nvSpPr>
      <dsp:spPr>
        <a:xfrm rot="5400000">
          <a:off x="-220635" y="2934816"/>
          <a:ext cx="1470902" cy="1029631"/>
        </a:xfrm>
        <a:prstGeom prst="chevron">
          <a:avLst/>
        </a:prstGeom>
        <a:solidFill>
          <a:srgbClr val="7030A0"/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3</a:t>
          </a:r>
        </a:p>
      </dsp:txBody>
      <dsp:txXfrm rot="-5400000">
        <a:off x="1" y="3228997"/>
        <a:ext cx="1029631" cy="441271"/>
      </dsp:txXfrm>
    </dsp:sp>
    <dsp:sp modelId="{6499D058-424F-41AE-BA91-DD69763CD284}">
      <dsp:nvSpPr>
        <dsp:cNvPr id="0" name=""/>
        <dsp:cNvSpPr/>
      </dsp:nvSpPr>
      <dsp:spPr>
        <a:xfrm rot="5400000">
          <a:off x="4554830" y="-757428"/>
          <a:ext cx="1063971" cy="8114368"/>
        </a:xfrm>
        <a:prstGeom prst="round2SameRect">
          <a:avLst/>
        </a:prstGeo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Вредные (3 класс)</a:t>
          </a:r>
          <a:endParaRPr lang="ru-RU" sz="3200" b="0" i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-5400000">
        <a:off x="1029632" y="2819709"/>
        <a:ext cx="8062429" cy="960093"/>
      </dsp:txXfrm>
    </dsp:sp>
    <dsp:sp modelId="{B628FEAA-9082-4CEB-BD41-80914BD0A837}">
      <dsp:nvSpPr>
        <dsp:cNvPr id="0" name=""/>
        <dsp:cNvSpPr/>
      </dsp:nvSpPr>
      <dsp:spPr>
        <a:xfrm rot="5400000">
          <a:off x="-220635" y="4262905"/>
          <a:ext cx="1470902" cy="1029631"/>
        </a:xfrm>
        <a:prstGeom prst="chevron">
          <a:avLst/>
        </a:prstGeom>
        <a:solidFill>
          <a:srgbClr val="00B0F0">
            <a:lumMod val="60000"/>
            <a:lumOff val="4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solidFill>
                <a:srgbClr val="FFFFFF"/>
              </a:solidFill>
              <a:latin typeface="Times New Roman" pitchFamily="18" charset="0"/>
              <a:ea typeface="+mn-ea"/>
              <a:cs typeface="Times New Roman" pitchFamily="18" charset="0"/>
            </a:rPr>
            <a:t>4</a:t>
          </a:r>
        </a:p>
      </dsp:txBody>
      <dsp:txXfrm rot="-5400000">
        <a:off x="1" y="4557086"/>
        <a:ext cx="1029631" cy="441271"/>
      </dsp:txXfrm>
    </dsp:sp>
    <dsp:sp modelId="{AA868E1F-013C-410B-89CE-7031C3D2FFDA}">
      <dsp:nvSpPr>
        <dsp:cNvPr id="0" name=""/>
        <dsp:cNvSpPr/>
      </dsp:nvSpPr>
      <dsp:spPr>
        <a:xfrm rot="5400000">
          <a:off x="4626455" y="673984"/>
          <a:ext cx="920721" cy="8114368"/>
        </a:xfrm>
        <a:prstGeom prst="round2SameRect">
          <a:avLst/>
        </a:prstGeom>
        <a:solidFill>
          <a:srgbClr val="FFFFFF">
            <a:alpha val="90000"/>
          </a:srgbClr>
        </a:solidFill>
        <a:ln w="425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ctr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3200" b="0" i="0" u="none" kern="1200" dirty="0">
              <a:latin typeface="Arial" panose="020B0604020202020204" pitchFamily="34" charset="0"/>
              <a:cs typeface="Arial" panose="020B0604020202020204" pitchFamily="34" charset="0"/>
            </a:rPr>
            <a:t>Опасные (4 класс)</a:t>
          </a:r>
          <a:endParaRPr lang="ru-RU" sz="32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-5400000">
        <a:off x="1029632" y="4315753"/>
        <a:ext cx="8069422" cy="830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C7969-918F-45FD-A479-138DE07B8CEC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EC57B-7FFC-414B-9094-738D7ED69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342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DD6E-918D-4BFB-9E5C-718AC693EE6A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354A1-AA98-4B36-AD3A-6A7675577D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2649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354A1-AA98-4B36-AD3A-6A7675577D2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66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D331-0F91-47C0-AAA5-0379A51ECE16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3037F-8A1D-44D4-B3B8-D9358CC24505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B151-4274-4C6F-8E6F-DE7E843FFF34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051A-3F01-47A4-9F4C-2D776FE3DB4A}" type="datetime1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74C49-5D8D-49C3-AA81-2A5163EC1EA5}" type="datetime1">
              <a:rPr lang="ru-RU" smtClean="0"/>
              <a:t>01.09.2025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CDE8D-F325-46BF-8970-03DB8A0E32F8}" type="datetime1">
              <a:rPr lang="ru-RU" smtClean="0"/>
              <a:t>01.09.2025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723DB-4752-42A1-9BAC-6DCF18B79480}" type="datetime1">
              <a:rPr lang="ru-RU" smtClean="0"/>
              <a:t>01.09.2025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2B81-4637-4A5D-B78E-B2DA60DAED9E}" type="datetime1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B0B38-0ED0-4DF2-B2BD-03C44DE85EFF}" type="datetime1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169E9-D193-4866-B131-C732A7A5C29F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B837-87FF-48AB-98B7-E0847C9697D7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F1D8-3F5C-45E7-A5AB-470517E833A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774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C46E7-E91E-4D03-BC59-8A982EED9F0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880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B9B94-072E-4DEA-9CBA-B2D665E168A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35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B74F-56BD-4A4D-B191-42A9332B0D57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416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B5D4D-3ACD-4930-84FA-38B0D5768716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483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9C652-65B0-43FD-86DC-4D542465CF0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92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000D-0C62-4101-8964-3C7C19FB92F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0935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E10F-CDF7-449D-BB11-E16E8EC1A067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570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68281-52DB-4A21-BD34-7996BE85DFC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214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309D-3645-4DE3-9DD4-42BBE66E639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53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1A9C-1C3B-4501-9D4B-0822C4BC2A2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469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C60-FCCF-4114-8608-92B327F2B9BF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276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BEC1-DF3D-4630-ADF5-02F8C7F23D88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49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4EAF6-260E-49B9-A479-3161D6CC62A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286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754F-0BE9-47B0-BB2F-70D7641FEB0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406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BB5-00EA-4869-895E-7B8C1A597E55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1895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547D-2ABC-4B8F-B614-4151EE00BBD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4915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B14D1-AEEA-4948-BEC0-06866FFC17ED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03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1D22-632B-4CBB-802D-1B316B2312DE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4348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8AE6-7300-4DC0-8FFC-E9A5D1C0DA3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181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1CE5-C83E-4C79-B70F-A952F3C13328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750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69B6-E245-48A4-9D83-3FB0A062C25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15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17971-44D6-4165-9D3E-10A9D73B4F53}" type="datetime1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D72F-5734-4D65-B710-EA0FB248DB03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93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3A65A-2602-43DA-BDE5-37199B7E90A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t>01.09.2025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98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8434" y="-99391"/>
            <a:ext cx="9144000" cy="6820866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РАБОТОСПОСОБНОСТЬ</a:t>
            </a:r>
          </a:p>
          <a:p>
            <a:pPr marL="571500" indent="-571500" algn="ctr">
              <a:buFontTx/>
              <a:buChar char="-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величина функциональных </a:t>
            </a:r>
            <a:r>
              <a:rPr lang="ru-RU" sz="4000" u="sng" dirty="0">
                <a:latin typeface="Arial" panose="020B0604020202020204" pitchFamily="34" charset="0"/>
                <a:cs typeface="Arial" panose="020B0604020202020204" pitchFamily="34" charset="0"/>
              </a:rPr>
              <a:t>возможностей организ­ма работника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, характеризующая его способность:</a:t>
            </a:r>
          </a:p>
          <a:p>
            <a:pPr marL="571500" indent="-5715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выполнять максимальное количество работы</a:t>
            </a:r>
          </a:p>
          <a:p>
            <a:pPr marL="571500" indent="-5715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на протяжении заданного времени</a:t>
            </a:r>
          </a:p>
          <a:p>
            <a:pPr marL="571500" indent="-5715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при интенсивном или длительном напряжении организма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06075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628800"/>
            <a:ext cx="9144000" cy="33123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ru-RU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 </a:t>
            </a:r>
            <a:r>
              <a:rPr lang="ru-RU" sz="480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4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4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Понятие об условиях труда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2821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20688"/>
            <a:ext cx="9144000" cy="573566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ru-RU" sz="4800" b="1" u="sng" dirty="0">
                <a:solidFill>
                  <a:schemeClr val="tx1"/>
                </a:solidFill>
              </a:rPr>
              <a:t>УСЛОВИЯ ТРУДА</a:t>
            </a:r>
          </a:p>
          <a:p>
            <a:pPr algn="ctr"/>
            <a:r>
              <a:rPr lang="ru-RU" sz="4800" dirty="0"/>
              <a:t>– </a:t>
            </a:r>
            <a:r>
              <a:rPr lang="ru-RU" sz="4800" u="sng" dirty="0"/>
              <a:t>совокупность факторов </a:t>
            </a:r>
            <a:r>
              <a:rPr lang="ru-RU" sz="4800" dirty="0"/>
              <a:t>производственной среды, оказывающих влияние на здоровье и работоспособность человека в процессе труда</a:t>
            </a:r>
            <a:endParaRPr lang="ru-RU" sz="8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69391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57453498"/>
              </p:ext>
            </p:extLst>
          </p:nvPr>
        </p:nvGraphicFramePr>
        <p:xfrm>
          <a:off x="0" y="1340768"/>
          <a:ext cx="9144000" cy="5517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Исходя из гигиенических нормативов СанПиНа,</a:t>
            </a:r>
          </a:p>
          <a:p>
            <a:pPr algn="ctr"/>
            <a:r>
              <a:rPr lang="ru-RU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УСЛОВИЯ ТРУДА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подраз­деляются на 4 класса: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99677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2852" y="404664"/>
            <a:ext cx="9146852" cy="5904656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36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ОПТИМАЛЬНЫЕ УСЛОВИЯ ТРУДА</a:t>
            </a:r>
          </a:p>
          <a:p>
            <a:pPr lvl="0" algn="ctr"/>
            <a:r>
              <a:rPr lang="ru-RU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 класс) </a:t>
            </a:r>
          </a:p>
          <a:p>
            <a:pPr lvl="0" algn="ctr"/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600" dirty="0"/>
              <a:t>обусловлены такими производственными</a:t>
            </a:r>
          </a:p>
          <a:p>
            <a:r>
              <a:rPr lang="ru-RU" sz="3600" dirty="0"/>
              <a:t>факторами, при которых сохраняется здоровье работников.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20687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-14684" y="548680"/>
            <a:ext cx="9144000" cy="5976664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u="sng" dirty="0">
                <a:solidFill>
                  <a:srgbClr val="FFFF00"/>
                </a:solidFill>
              </a:rPr>
              <a:t>ДОПУСТИМЫЕ УСЛОВИЯ ТРУДА</a:t>
            </a:r>
          </a:p>
          <a:p>
            <a:pPr algn="ctr"/>
            <a:r>
              <a:rPr lang="ru-RU" sz="3600" dirty="0">
                <a:solidFill>
                  <a:srgbClr val="FFFF00"/>
                </a:solidFill>
              </a:rPr>
              <a:t>(2 класс)</a:t>
            </a:r>
          </a:p>
          <a:p>
            <a:pPr marL="457200" indent="-457200">
              <a:buFontTx/>
              <a:buChar char="-"/>
            </a:pPr>
            <a:r>
              <a:rPr lang="ru-RU" sz="3600" dirty="0" smtClean="0"/>
              <a:t>параметры в пределах норм,</a:t>
            </a:r>
          </a:p>
          <a:p>
            <a:pPr marL="457200" indent="-457200">
              <a:buFontTx/>
              <a:buChar char="-"/>
            </a:pPr>
            <a:r>
              <a:rPr lang="ru-RU" sz="3600" dirty="0" smtClean="0"/>
              <a:t>изменения состояния ор­ганизма восстанавливаются во врем перерывов или к началу следующей смены,</a:t>
            </a:r>
          </a:p>
          <a:p>
            <a:pPr marL="457200" indent="-457200">
              <a:buFontTx/>
              <a:buChar char="-"/>
            </a:pPr>
            <a:r>
              <a:rPr lang="ru-RU" sz="3600" dirty="0" smtClean="0"/>
              <a:t>не оказыва­ют неблагоприятного действия в ближайшем и отдаленном периоде на состо­яние здоровья работников и их потомство.</a:t>
            </a:r>
            <a:endParaRPr lang="ru-RU" sz="3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0990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3368" y="332656"/>
            <a:ext cx="9144000" cy="6264696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3600" b="1" u="sng" dirty="0">
                <a:solidFill>
                  <a:srgbClr val="FFFF00"/>
                </a:solidFill>
              </a:rPr>
              <a:t>ВРЕДНЫЕ УСЛОВИЯ ТРУДА</a:t>
            </a:r>
          </a:p>
          <a:p>
            <a:pPr lvl="0" algn="ctr"/>
            <a:r>
              <a:rPr lang="ru-RU" sz="3600" dirty="0">
                <a:solidFill>
                  <a:srgbClr val="FFFF00"/>
                </a:solidFill>
              </a:rPr>
              <a:t>(3 класс)</a:t>
            </a:r>
          </a:p>
          <a:p>
            <a:pPr marL="457200" lvl="0" indent="-457200">
              <a:buFontTx/>
              <a:buChar char="-"/>
            </a:pPr>
            <a:r>
              <a:rPr lang="ru-RU" sz="3600" dirty="0"/>
              <a:t>параметры выходят за пределы гигиенических нормативов,</a:t>
            </a:r>
          </a:p>
          <a:p>
            <a:pPr marL="457200" lvl="0" indent="-457200">
              <a:buFontTx/>
              <a:buChar char="-"/>
            </a:pPr>
            <a:r>
              <a:rPr lang="ru-RU" sz="3600" dirty="0"/>
              <a:t>оказывают неблагоприятное действие на организм работника и (или) его потомство.</a:t>
            </a:r>
          </a:p>
          <a:p>
            <a:endParaRPr lang="ru-RU" sz="3600" dirty="0"/>
          </a:p>
          <a:p>
            <a:pPr lvl="0"/>
            <a:endParaRPr lang="ru-RU" sz="32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2546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7112" y="548680"/>
            <a:ext cx="9144000" cy="5616624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sz="3600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ОПАСНЫЕ УСЛОВИЯ ТРУДА</a:t>
            </a:r>
          </a:p>
          <a:p>
            <a:pPr lvl="0" algn="ctr"/>
            <a:r>
              <a:rPr lang="ru-RU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 класс)</a:t>
            </a:r>
          </a:p>
          <a:p>
            <a:pPr lvl="0" algn="ctr"/>
            <a:endParaRPr lang="ru-RU" sz="36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параметры значительно выходят за пределы норм,</a:t>
            </a:r>
          </a:p>
          <a:p>
            <a:pPr marL="457200" lvl="0" indent="-4572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возникает угроза для жизни работника</a:t>
            </a:r>
          </a:p>
          <a:p>
            <a:pPr marL="457200" lvl="0" indent="-4572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высокий риск раз­вития острых ПЗ,</a:t>
            </a:r>
          </a:p>
          <a:p>
            <a:pPr marL="457200" lvl="0" indent="-457200">
              <a:buFontTx/>
              <a:buChar char="-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работа должна проводиться в соответствующих СИЗ и при строгом соблюдении режимов.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8860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21569" y="332656"/>
            <a:ext cx="9144000" cy="453650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ru-RU" sz="4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 </a:t>
            </a:r>
            <a:r>
              <a:rPr lang="ru-RU" sz="4800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4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4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Виды инструктажей по охране труда и технике безопасности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20316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548680"/>
            <a:ext cx="9144000" cy="59046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ru-RU" sz="4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Независимо от</a:t>
            </a:r>
          </a:p>
          <a:p>
            <a:pPr marL="685800" indent="-685800">
              <a:buFontTx/>
              <a:buChar char="-"/>
            </a:pPr>
            <a:r>
              <a:rPr lang="ru-RU" sz="4800" dirty="0"/>
              <a:t>занимаемой должности,</a:t>
            </a:r>
          </a:p>
          <a:p>
            <a:pPr marL="685800" indent="-685800">
              <a:buFontTx/>
              <a:buChar char="-"/>
            </a:pPr>
            <a:r>
              <a:rPr lang="ru-RU" sz="4800" dirty="0"/>
              <a:t>профессии,</a:t>
            </a:r>
          </a:p>
          <a:p>
            <a:pPr marL="685800" indent="-685800">
              <a:buFontTx/>
              <a:buChar char="-"/>
            </a:pPr>
            <a:r>
              <a:rPr lang="ru-RU" sz="4800" dirty="0"/>
              <a:t>квалификации</a:t>
            </a:r>
          </a:p>
          <a:p>
            <a:endParaRPr lang="ru-RU" sz="1400" dirty="0"/>
          </a:p>
          <a:p>
            <a:pPr algn="ctr"/>
            <a:r>
              <a:rPr lang="ru-RU" sz="4800" dirty="0"/>
              <a:t>все участники производственного процесса проходят инструктаж по охране труда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14438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96752"/>
            <a:ext cx="9144000" cy="432048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ИНСТРУКТАЖИ:</a:t>
            </a:r>
          </a:p>
          <a:p>
            <a:pPr algn="ctr"/>
            <a:endParaRPr lang="ru-RU" sz="36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Вводный.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Первичный.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Повторный.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Внеплановый.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Целевой.</a:t>
            </a:r>
            <a:endParaRPr lang="ru-RU" sz="3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18234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 algn="ctr">
              <a:buFontTx/>
              <a:buAutoNum type="arabicPeriod"/>
            </a:pPr>
            <a:r>
              <a:rPr lang="ru-RU" sz="3200" b="1" i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ВВОДНЫЙ инструктаж</a:t>
            </a:r>
          </a:p>
          <a:p>
            <a:pPr algn="ctr"/>
            <a:r>
              <a:rPr lang="ru-RU" sz="32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для ознакомления с </a:t>
            </a:r>
            <a:r>
              <a:rPr lang="ru-RU" sz="3200" b="1" i="1" u="sng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общими </a:t>
            </a:r>
            <a:r>
              <a:rPr lang="ru-RU" sz="32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правилами и требованиями ОТ в </a:t>
            </a:r>
            <a:r>
              <a:rPr lang="ru-RU" sz="3200" b="1" i="1" u="sng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организации</a:t>
            </a:r>
            <a:r>
              <a:rPr lang="ru-RU" sz="32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ru-RU" sz="1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Проводится для: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Всех работников вновь поступающих на работу (временную или постоянную).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Командированных (при выполнении работ).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Учащихся для прохождения практики и обучения. </a:t>
            </a:r>
          </a:p>
          <a:p>
            <a:pPr algn="ctr"/>
            <a:endParaRPr lang="ru-RU" sz="1000" i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по ОТ,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организации, на которого возложены эти </a:t>
            </a:r>
            <a:r>
              <a:rPr lang="ru-RU" sz="2800" i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обязанности (преподаватель)</a:t>
            </a:r>
            <a:endParaRPr lang="ru-RU" sz="2800" i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89985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620688"/>
            <a:ext cx="9144000" cy="5472608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i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ПЕРВИЧНЫЙ инструктаж</a:t>
            </a:r>
          </a:p>
          <a:p>
            <a:pPr algn="ctr"/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32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изучения и соблюдения требований, правил, оборудования, тех. процесса</a:t>
            </a:r>
          </a:p>
          <a:p>
            <a:pPr algn="ctr"/>
            <a:r>
              <a:rPr lang="ru-RU" sz="3200" i="1" u="sng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конкретном рабочем месте</a:t>
            </a:r>
            <a:endParaRPr lang="ru-RU" sz="3200" i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Проводится для: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всех принятых работников,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всех переведенных из другого участка, работы, оборудования,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временном переводе.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0935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64703"/>
            <a:ext cx="9144000" cy="5956771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ПОВТОРНЫЙ инструктаж </a:t>
            </a:r>
          </a:p>
          <a:p>
            <a:pPr algn="ctr"/>
            <a:r>
              <a:rPr lang="ru-RU" sz="3600" b="1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восстановления в памяти правил ОТ</a:t>
            </a:r>
            <a:endParaRPr lang="ru-RU" sz="1000" i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Проводится:</a:t>
            </a:r>
          </a:p>
          <a:p>
            <a:pPr marL="571500" indent="-571500">
              <a:buFontTx/>
              <a:buChar char="-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рабочем месте либо с группой людей,</a:t>
            </a:r>
          </a:p>
          <a:p>
            <a:pPr marL="571500" indent="-571500">
              <a:buFontTx/>
              <a:buChar char="-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программе первичного </a:t>
            </a:r>
            <a:r>
              <a:rPr lang="ru-RU" sz="3600" i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инструктажа,</a:t>
            </a:r>
          </a:p>
          <a:p>
            <a:pPr marL="571500" indent="-571500">
              <a:buFontTx/>
              <a:buChar char="-"/>
            </a:pPr>
            <a:r>
              <a:rPr lang="ru-RU" sz="36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sz="3600" i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реже 1 раза в полугодие.</a:t>
            </a:r>
            <a:endParaRPr lang="ru-RU" sz="3600" i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9171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i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ВНЕПЛАНОВЫЙ инструктаж</a:t>
            </a:r>
          </a:p>
          <a:p>
            <a:endParaRPr lang="ru-RU" sz="8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Проводится при:</a:t>
            </a:r>
          </a:p>
          <a:p>
            <a:r>
              <a:rPr lang="ru-RU" sz="3000" dirty="0"/>
              <a:t>– при введении (</a:t>
            </a:r>
            <a:r>
              <a:rPr lang="ru-RU" sz="3000" b="1" u="sng" dirty="0"/>
              <a:t>изменении</a:t>
            </a:r>
            <a:r>
              <a:rPr lang="ru-RU" sz="3000" dirty="0"/>
              <a:t>) нормативных актов (</a:t>
            </a:r>
            <a:r>
              <a:rPr lang="ru-RU" sz="3000" b="1" u="sng" dirty="0"/>
              <a:t>документов</a:t>
            </a:r>
            <a:r>
              <a:rPr lang="ru-RU" sz="3000" dirty="0"/>
              <a:t>) по ОТ;</a:t>
            </a:r>
          </a:p>
          <a:p>
            <a:r>
              <a:rPr lang="ru-RU" sz="3000" dirty="0"/>
              <a:t>– при </a:t>
            </a:r>
            <a:r>
              <a:rPr lang="ru-RU" sz="3000" b="1" u="sng" dirty="0"/>
              <a:t>изменении </a:t>
            </a:r>
            <a:r>
              <a:rPr lang="ru-RU" sz="3000" b="1" u="sng" dirty="0" err="1" smtClean="0"/>
              <a:t>технологичнского</a:t>
            </a:r>
            <a:r>
              <a:rPr lang="ru-RU" sz="3000" b="1" u="sng" dirty="0" smtClean="0"/>
              <a:t> </a:t>
            </a:r>
            <a:r>
              <a:rPr lang="ru-RU" sz="3000" b="1" u="sng" dirty="0"/>
              <a:t>процесса</a:t>
            </a:r>
            <a:r>
              <a:rPr lang="ru-RU" sz="3000" dirty="0"/>
              <a:t>, замене или модернизации оборудования, приборов и др.</a:t>
            </a:r>
            <a:endParaRPr lang="en-US" sz="3000" dirty="0"/>
          </a:p>
          <a:p>
            <a:r>
              <a:rPr lang="ru-RU" sz="3000" dirty="0"/>
              <a:t>– при </a:t>
            </a:r>
            <a:r>
              <a:rPr lang="ru-RU" sz="3000" b="1" u="sng" dirty="0"/>
              <a:t>нарушении рабочим </a:t>
            </a:r>
            <a:r>
              <a:rPr lang="ru-RU" sz="3000" dirty="0"/>
              <a:t>нормативных правовых актов (документов) по ОТ, которое могло привести либо привело к травмированию, аварии или отравлению</a:t>
            </a:r>
          </a:p>
          <a:p>
            <a:r>
              <a:rPr lang="ru-RU" sz="3000" dirty="0"/>
              <a:t>– при </a:t>
            </a:r>
            <a:r>
              <a:rPr lang="ru-RU" sz="3000" b="1" u="sng" dirty="0"/>
              <a:t>перерывах в работе </a:t>
            </a:r>
            <a:r>
              <a:rPr lang="ru-RU" sz="3000" dirty="0"/>
              <a:t>более 6 месяцев;</a:t>
            </a:r>
          </a:p>
          <a:p>
            <a:r>
              <a:rPr lang="ru-RU" sz="3000" dirty="0"/>
              <a:t>– при поступлении информации об </a:t>
            </a:r>
            <a:r>
              <a:rPr lang="ru-RU" sz="3000" b="1" u="sng" dirty="0"/>
              <a:t>авариях и несчастных случаях, </a:t>
            </a:r>
            <a:r>
              <a:rPr lang="ru-RU" sz="3000" dirty="0"/>
              <a:t>произошедших на аналогичных производствах.</a:t>
            </a:r>
            <a:endParaRPr lang="ru-RU" sz="3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7585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620688"/>
            <a:ext cx="9144000" cy="5904656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ЦЕЛЕВОЙ инструктаж</a:t>
            </a:r>
          </a:p>
          <a:p>
            <a:r>
              <a:rPr lang="ru-RU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Проводится при:</a:t>
            </a:r>
          </a:p>
          <a:p>
            <a:pPr algn="ctr"/>
            <a:endParaRPr lang="ru-RU" sz="1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выполнении разовых работ (погрузка, разгрузка, уборка),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ликвидации последствий аварий, катастроф,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экскурсии студентов по </a:t>
            </a:r>
            <a:r>
              <a:rPr lang="ru-RU" sz="32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предприятию,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32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роведении работ с оформлением наряда-допуска</a:t>
            </a:r>
            <a:endParaRPr lang="ru-RU" sz="3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6828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620688"/>
            <a:ext cx="9144000" cy="5904656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rgbClr val="FFFF00"/>
                </a:solidFill>
              </a:rPr>
              <a:t>Первичный, повторный, внеплановый и целевой инструктажи </a:t>
            </a:r>
            <a:r>
              <a:rPr lang="ru-RU" sz="3600" b="1" u="sng" dirty="0">
                <a:solidFill>
                  <a:srgbClr val="FFFF00"/>
                </a:solidFill>
              </a:rPr>
              <a:t>проводит</a:t>
            </a:r>
          </a:p>
          <a:p>
            <a:pPr algn="ctr"/>
            <a:r>
              <a:rPr lang="ru-RU" sz="3600" dirty="0"/>
              <a:t>непосредственно </a:t>
            </a:r>
            <a:r>
              <a:rPr lang="ru-RU" sz="3600" b="1" u="sng" dirty="0"/>
              <a:t>руководитель работ</a:t>
            </a:r>
            <a:r>
              <a:rPr lang="ru-RU" sz="3600" dirty="0"/>
              <a:t>:</a:t>
            </a:r>
          </a:p>
          <a:p>
            <a:pPr marL="571500" indent="-571500">
              <a:buFontTx/>
              <a:buChar char="-"/>
            </a:pPr>
            <a:r>
              <a:rPr lang="ru-RU" sz="3600" dirty="0"/>
              <a:t>начальник производства,</a:t>
            </a:r>
          </a:p>
          <a:p>
            <a:pPr marL="571500" indent="-571500">
              <a:buFontTx/>
              <a:buChar char="-"/>
            </a:pPr>
            <a:r>
              <a:rPr lang="ru-RU" sz="3600" dirty="0"/>
              <a:t>начальник цеха,</a:t>
            </a:r>
          </a:p>
          <a:p>
            <a:pPr marL="571500" indent="-571500">
              <a:buFontTx/>
              <a:buChar char="-"/>
            </a:pPr>
            <a:r>
              <a:rPr lang="ru-RU" sz="3600" dirty="0"/>
              <a:t>начальник участка,</a:t>
            </a:r>
          </a:p>
          <a:p>
            <a:pPr marL="571500" indent="-571500">
              <a:buFontTx/>
              <a:buChar char="-"/>
            </a:pPr>
            <a:r>
              <a:rPr lang="ru-RU" sz="3600" dirty="0"/>
              <a:t>мастер,</a:t>
            </a:r>
          </a:p>
          <a:p>
            <a:pPr marL="571500" indent="-571500">
              <a:buFontTx/>
              <a:buChar char="-"/>
            </a:pPr>
            <a:r>
              <a:rPr lang="ru-RU" sz="3600" dirty="0"/>
              <a:t>инструктор и т. д.</a:t>
            </a:r>
            <a:endParaRPr lang="ru-RU" sz="3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31678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1. Инструктажи на рабочем месте завершаются </a:t>
            </a:r>
            <a:r>
              <a:rPr lang="ru-RU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проверкой знаний</a:t>
            </a:r>
          </a:p>
          <a:p>
            <a:pPr marL="742950" indent="-742950">
              <a:buAutoNum type="arabicPeriod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2. Проведение всех видов инструктажей фиксируется в соответствующих </a:t>
            </a:r>
            <a:r>
              <a:rPr lang="ru-RU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журналах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установленной формы с подписями обеих сторон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4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Срок хранения журналов </a:t>
            </a:r>
            <a:r>
              <a:rPr lang="ru-RU" sz="4000" b="1" u="sng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лет </a:t>
            </a:r>
            <a:r>
              <a:rPr lang="ru-RU" sz="4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 дня последней записи.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04312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5963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4979</TotalTime>
  <Words>598</Words>
  <Application>Microsoft Office PowerPoint</Application>
  <PresentationFormat>Экран (4:3)</PresentationFormat>
  <Paragraphs>138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Times New Roman</vt:lpstr>
      <vt:lpstr>Тема Office</vt:lpstr>
      <vt:lpstr>1_Тема Office</vt:lpstr>
      <vt:lpstr>4_Тема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13  </dc:title>
  <dc:creator>kseni_000</dc:creator>
  <cp:lastModifiedBy>ltso14</cp:lastModifiedBy>
  <cp:revision>287</cp:revision>
  <dcterms:created xsi:type="dcterms:W3CDTF">2014-12-15T13:11:41Z</dcterms:created>
  <dcterms:modified xsi:type="dcterms:W3CDTF">2025-09-01T12:00:40Z</dcterms:modified>
</cp:coreProperties>
</file>